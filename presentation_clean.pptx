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D2E2"/>
                </a:solidFill>
                <a:latin typeface="Segoe UI"/>
              </a:defRPr>
            </a:pPr>
            <a:r>
              <a:t>DEVELOPMENT REPORT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Contact Manager App</a:t>
            </a:r>
          </a:p>
          <a:p>
            <a:pPr>
              <a:spcBef>
                <a:spcPts val="1500"/>
              </a:spcBef>
              <a:defRPr sz="2000">
                <a:solidFill>
                  <a:srgbClr val="4A90E2"/>
                </a:solidFill>
                <a:latin typeface="Segoe UI"/>
              </a:defRPr>
            </a:pPr>
            <a:r>
              <a:t>Переход от консольного скрипта к полноценному графическому приложению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A90E2"/>
                </a:solidFill>
                <a:latin typeface="Segoe UI"/>
              </a:defRPr>
            </a:pPr>
            <a:r>
              <a:t>Ограничения консольного интерфейса</a:t>
            </a:r>
          </a:p>
          <a:p>
            <a:pPr>
              <a:spcBef>
                <a:spcPts val="500"/>
              </a:spcBef>
              <a:defRPr sz="1200" b="1">
                <a:solidFill>
                  <a:srgbClr val="4AD2E2"/>
                </a:solidFill>
                <a:latin typeface="Segoe UI"/>
              </a:defRPr>
            </a:pPr>
            <a:r>
              <a:t>UI/UX &amp; ПРОБЛЕМАТИКА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Взаимодействие: Ввод текстовых команд менее интуитивен, чем использование интерактивных графических элементов и форм.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Отображение данных: Воспринимать и прокручивать большие списки контактов удобнее в структурированной таблице.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Реактивность: Проверка корректности данных (валидация полей ввода) должна происходить мгновенно в реальном времени.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Внешний вид: Графические библиотеки дают возможность кастомизировать интерфейс под современные стандарты операционных систем.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A90E2"/>
                </a:solidFill>
                <a:latin typeface="Segoe UI"/>
              </a:defRPr>
            </a:pPr>
            <a:r>
              <a:t>Архитектурное решение</a:t>
            </a:r>
          </a:p>
          <a:p>
            <a:pPr>
              <a:spcBef>
                <a:spcPts val="500"/>
              </a:spcBef>
              <a:defRPr sz="1200" b="1">
                <a:solidFill>
                  <a:srgbClr val="4AD2E2"/>
                </a:solidFill>
                <a:latin typeface="Segoe UI"/>
              </a:defRPr>
            </a:pPr>
            <a:r>
              <a:t>SOFTWARE DESIGN &amp; СЛОЕНАЯ СТРУКТУРА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Объектно-ориентированный подход: Логика программы и интерфейс разделены на независимые классы вместо линейного процедурного кода.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Управление приложением: Главный класс координирует запуск программы, инициализацию компонентов и закрытие окон.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Модуль бизнес-логики (Data Layer): Выделенный изолированный сервис для работы со списками, подготовленный к интеграции с БД или JSON.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Графические компоненты (UI): Каждое окно, поле ввода и кнопка — это обособленные объекты с собственной логикой обработки.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A90E2"/>
                </a:solidFill>
                <a:latin typeface="Segoe UI"/>
              </a:defRPr>
            </a:pPr>
            <a:r>
              <a:t>Особенности кастомизации UI</a:t>
            </a:r>
          </a:p>
          <a:p>
            <a:pPr>
              <a:spcBef>
                <a:spcPts val="500"/>
              </a:spcBef>
              <a:defRPr sz="1200" b="1">
                <a:solidFill>
                  <a:srgbClr val="4AD2E2"/>
                </a:solidFill>
                <a:latin typeface="Segoe UI"/>
              </a:defRPr>
            </a:pPr>
            <a:r>
              <a:t>ТЕХНОЛОГИЧЕСКИЙ СТЕК И ВОЗМОЖНОСТИ ФРЕЙМВОРКА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Динамические темы: Нативная поддержка быстрого переключения между светлым и темным режимами оформления.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Современные виджеты: Поля ввода, кнопки и таблицы имеют скругленные углы и адаптированные отступы.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Производительность: Оптимизированная отрисовка кастомных графических элементов без создания избыточной нагрузки на систему.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A90E2"/>
                </a:solidFill>
                <a:latin typeface="Segoe UI"/>
              </a:defRPr>
            </a:pPr>
            <a:r>
              <a:t>Этапы эволюции проекта</a:t>
            </a:r>
          </a:p>
          <a:p>
            <a:pPr>
              <a:spcBef>
                <a:spcPts val="500"/>
              </a:spcBef>
              <a:defRPr sz="1200" b="1">
                <a:solidFill>
                  <a:srgbClr val="4AD2E2"/>
                </a:solidFill>
                <a:latin typeface="Segoe UI"/>
              </a:defRPr>
            </a:pPr>
            <a:r>
              <a:t>РАЗВИТИЕ ФУНКЦИОНАЛА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Этап 1 — Console App: Реализация базового CRUD-функционала (добавление, чтение, обновление, удаление) в терминале.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Этап 2 — Базовый GUI: Проектирование окон, таблиц и стандартных системных диалогов.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Этап 3 — Custom UI &amp; UX: Интеграция стилей, бесшовная смена тем, проработка фокуса, поиск «на лету» и устранение багов отображения.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Фокус разработки: Основная часть времени при создании приложения уходит на обеспечение отказоустойчивости, UX-логику и визуальную стабильность.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4A90E2"/>
                </a:solidFill>
                <a:latin typeface="Segoe UI"/>
              </a:defRPr>
            </a:pPr>
            <a:r>
              <a:t>Реактивность интерфейса</a:t>
            </a:r>
          </a:p>
          <a:p>
            <a:pPr>
              <a:spcBef>
                <a:spcPts val="500"/>
              </a:spcBef>
              <a:defRPr sz="1200" b="1">
                <a:solidFill>
                  <a:srgbClr val="4AD2E2"/>
                </a:solidFill>
                <a:latin typeface="Segoe UI"/>
              </a:defRPr>
            </a:pPr>
            <a:r>
              <a:t>СОБЫТИЙНАЯ МОДЕЛЬ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Управление событиями (Event-Driven): Графический интерфейс остается полностью отзывчивым во время выполнения операций.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Использование обработчиков (Callbacks): Действия пользователя мгновенно вызывают связанные методы логики приложения.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Схема взаимодействия: [ Действие пользователя ] ──&gt; [ Callback-функция ] ──&gt; [ Обновление элементов UI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0152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A90E2"/>
                </a:solidFill>
                <a:latin typeface="Segoe UI"/>
              </a:defRPr>
            </a:pPr>
            <a:r>
              <a:t>Спасибо за внимание!</a:t>
            </a:r>
          </a:p>
          <a:p>
            <a:pPr algn="ctr">
              <a:spcBef>
                <a:spcPts val="1500"/>
              </a:spcBef>
              <a:defRPr sz="2000">
                <a:solidFill>
                  <a:srgbClr val="FFFFFF"/>
                </a:solidFill>
                <a:latin typeface="Segoe UI"/>
              </a:defRPr>
            </a:pPr>
            <a:r>
              <a:t>Готов ответить на ваши вопросы</a:t>
            </a:r>
          </a:p>
          <a:p>
            <a:pPr algn="ctr">
              <a:spcBef>
                <a:spcPts val="2500"/>
              </a:spcBef>
              <a:defRPr sz="1400">
                <a:solidFill>
                  <a:srgbClr val="8A8FA5"/>
                </a:solidFill>
                <a:latin typeface="Segoe UI"/>
              </a:defRPr>
            </a:pPr>
            <a:r>
              <a:t>Среда тестирования: Arch Linux | Стек: PyQt6 &amp; uv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